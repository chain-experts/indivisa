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bond pays its coupon to hundreds of holders. Today that is spreadsheets and batch files. We make it one transaction.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not our numbers. They are from Canton Network's own post-trade research. Error rates between three and ten per cent are described there as routine: levels called unacceptable elsewhere in capital markets.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thing that stops corporate actions moving onto a public chain. It is not that nobody thought of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paying agent presses one button. Either every holder is paid, or nothing moves. And each holder's own node receives its own line and nothing about anyone else.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that matters to the buyer. Everything else is how it is done.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one is the real-world "give the paying agent your account details". After that, every coupon lands with no action from the holder. The standard requires the receiver's authority on every leg; we collect it once.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worked example in the CIP is trading and netting, not corporate actions. We are taking a new primitive somewhere its authors did not.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That update id is a real transaction on Canton DevNet. We ran both halves: the refusal first, then the settlement.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would rather you did not take our word for any of this. One command gives you the whole thing on your own machine.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Nobody had published how many legs fit in a CIP-112 batch, so we measured it, and the method is in the repo.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Real paying agents have four-eyes controls. Below the threshold this is not our code being careful. It is the ledger refusing.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would rather tell you this than have you find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Known gaps, stated before anyone asks. Scoping is the one that matters operationally.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bond stays where it is. That matters commercially: the industry does not have to tokenize every instrument before any of this is useful.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transaction. Every holder paid at the same instant, or nobody. And no holder sees another.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13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1417320"/>
            <a:ext cx="1261872" cy="84124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51560" y="23317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9EF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Indivisa</a:t>
            </a:r>
            <a:endParaRPr lang="en-US" sz="4600" dirty="0"/>
          </a:p>
        </p:txBody>
      </p:sp>
      <p:sp>
        <p:nvSpPr>
          <p:cNvPr id="4" name="Text 1"/>
          <p:cNvSpPr txBox="1"/>
          <p:nvPr/>
        </p:nvSpPr>
        <p:spPr>
          <a:xfrm>
            <a:off x="1051560" y="3246120"/>
            <a:ext cx="7498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actions, settled in one atomic batch,</a:t>
            </a:r>
            <a:endParaRPr lang="en-US" sz="17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exposing the register.</a:t>
            </a:r>
            <a:endParaRPr lang="en-US" sz="1700" dirty="0"/>
          </a:p>
        </p:txBody>
      </p:sp>
      <p:sp>
        <p:nvSpPr>
          <p:cNvPr id="5" name="Shape 2"/>
          <p:cNvSpPr/>
          <p:nvPr/>
        </p:nvSpPr>
        <p:spPr>
          <a:xfrm>
            <a:off x="1051560" y="4315968"/>
            <a:ext cx="6035040" cy="0"/>
          </a:xfrm>
          <a:prstGeom prst="line">
            <a:avLst/>
          </a:prstGeom>
          <a:noFill/>
          <a:ln w="9525">
            <a:solidFill>
              <a:srgbClr val="25342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51560" y="4434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8BE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Settled on Canton DevNet   ·   run it yourself in one command</a:t>
            </a:r>
            <a:endParaRPr lang="en-US" sz="1050" dirty="0"/>
          </a:p>
        </p:txBody>
      </p:sp>
      <p:sp>
        <p:nvSpPr>
          <p:cNvPr id="7" name="Text 4"/>
          <p:cNvSpPr txBox="1"/>
          <p:nvPr/>
        </p:nvSpPr>
        <p:spPr>
          <a:xfrm>
            <a:off x="1051560" y="5989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378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CHAIN-EXPERTS   ·   HACKCANTON SEASON 3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C13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0010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40" kern="0" dirty="0">
                <a:solidFill>
                  <a:srgbClr val="58BE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PROBLEM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9562795" y="27432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40" kern="0" dirty="0">
                <a:solidFill>
                  <a:srgbClr val="6378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/ 15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800100" y="548640"/>
            <a:ext cx="10591495" cy="0"/>
          </a:xfrm>
          <a:prstGeom prst="line">
            <a:avLst/>
          </a:prstGeom>
          <a:noFill/>
          <a:ln w="9525">
            <a:solidFill>
              <a:srgbClr val="25342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0100" y="1051560"/>
            <a:ext cx="9326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8"/>
              </a:lnSpc>
              <a:buNone/>
            </a:pPr>
            <a:r>
              <a:rPr lang="en-US" sz="3400" b="1" dirty="0">
                <a:solidFill>
                  <a:srgbClr val="E9EF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distribution is N separate payments.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800100" y="2148840"/>
            <a:ext cx="9052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30"/>
              </a:lnSpc>
              <a:buNone/>
            </a:pPr>
            <a:r>
              <a:rPr lang="en-US" sz="15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no moment at which the run is definitively finished. Some holders are paid, some are not, and the difference is worked by hand for days afterwards.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00100" y="333756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58BE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$3.42m</a:t>
            </a:r>
            <a:endParaRPr lang="en-US" sz="3100" dirty="0"/>
          </a:p>
        </p:txBody>
      </p:sp>
      <p:sp>
        <p:nvSpPr>
          <p:cNvPr id="8" name="Text 6"/>
          <p:cNvSpPr txBox="1"/>
          <p:nvPr/>
        </p:nvSpPr>
        <p:spPr>
          <a:xfrm>
            <a:off x="800100" y="3950208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year in asset-servicing errors, per market participant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3497580" y="333756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58BE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3–10%</a:t>
            </a:r>
            <a:endParaRPr lang="en-US" sz="3100" dirty="0"/>
          </a:p>
        </p:txBody>
      </p:sp>
      <p:sp>
        <p:nvSpPr>
          <p:cNvPr id="10" name="Text 8"/>
          <p:cNvSpPr txBox="1"/>
          <p:nvPr/>
        </p:nvSpPr>
        <p:spPr>
          <a:xfrm>
            <a:off x="3497580" y="3950208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rates, described as routine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6195060" y="333756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58BE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&lt;40%</a:t>
            </a:r>
            <a:endParaRPr lang="en-US" sz="3100" dirty="0"/>
          </a:p>
        </p:txBody>
      </p:sp>
      <p:sp>
        <p:nvSpPr>
          <p:cNvPr id="12" name="Text 10"/>
          <p:cNvSpPr txBox="1"/>
          <p:nvPr/>
        </p:nvSpPr>
        <p:spPr>
          <a:xfrm>
            <a:off x="6195060" y="3950208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straight-through processing on voluntary events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8892540" y="333756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58BE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+23%</a:t>
            </a:r>
            <a:endParaRPr lang="en-US" sz="3100" dirty="0"/>
          </a:p>
        </p:txBody>
      </p:sp>
      <p:sp>
        <p:nvSpPr>
          <p:cNvPr id="14" name="Text 12"/>
          <p:cNvSpPr txBox="1"/>
          <p:nvPr/>
        </p:nvSpPr>
        <p:spPr>
          <a:xfrm>
            <a:off x="8892540" y="3950208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growth in asset-servicing costs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800100" y="6236208"/>
            <a:ext cx="105914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78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Source: Canton Network, Post-Trade Transformation (2025). Not our figures.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C13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0010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40" kern="0" dirty="0">
                <a:solidFill>
                  <a:srgbClr val="58BE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PROBLEM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9562795" y="27432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40" kern="0" dirty="0">
                <a:solidFill>
                  <a:srgbClr val="6378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/ 15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800100" y="548640"/>
            <a:ext cx="10591495" cy="0"/>
          </a:xfrm>
          <a:prstGeom prst="line">
            <a:avLst/>
          </a:prstGeom>
          <a:noFill/>
          <a:ln w="9525">
            <a:solidFill>
              <a:srgbClr val="25342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0100" y="1051560"/>
            <a:ext cx="9326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8"/>
              </a:lnSpc>
              <a:buNone/>
            </a:pPr>
            <a:r>
              <a:rPr lang="en-US" sz="3400" b="1" dirty="0">
                <a:solidFill>
                  <a:srgbClr val="E9EF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it cannot simply move onto a public chain.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800100" y="2377440"/>
            <a:ext cx="9052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30"/>
              </a:lnSpc>
              <a:buNone/>
            </a:pPr>
            <a:r>
              <a:rPr lang="en-US" sz="15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Paying a coupon publicly publishes the register. Every holder's position size becomes readable by every other holder, by their competitors, and by anyone else, at the moment the coupon pays.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36676" y="3813048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8B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147572" y="3840480"/>
            <a:ext cx="9052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94"/>
              </a:lnSpc>
              <a:buNone/>
            </a:pPr>
            <a:r>
              <a:rPr lang="en-US" sz="13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bondholder register is not public information, and in many markets is protected by data-protection or banking-secrecy rules.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36676" y="4325112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8B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1147572" y="4352544"/>
            <a:ext cx="9052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94"/>
              </a:lnSpc>
              <a:buNone/>
            </a:pPr>
            <a:r>
              <a:rPr lang="en-US" sz="13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commercially sensitive in all of them: it is the client list.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836676" y="4837176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8B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147572" y="4864608"/>
            <a:ext cx="9052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94"/>
              </a:lnSpc>
              <a:buNone/>
            </a:pPr>
            <a:r>
              <a:rPr lang="en-US" sz="13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why this workflow has not moved to a transparent ledger.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C13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0010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40" kern="0" dirty="0">
                <a:solidFill>
                  <a:srgbClr val="58BE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WHAT IT DOES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9562795" y="27432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40" kern="0" dirty="0">
                <a:solidFill>
                  <a:srgbClr val="6378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/ 15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800100" y="548640"/>
            <a:ext cx="10591495" cy="0"/>
          </a:xfrm>
          <a:prstGeom prst="line">
            <a:avLst/>
          </a:prstGeom>
          <a:noFill/>
          <a:ln w="9525">
            <a:solidFill>
              <a:srgbClr val="25342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0100" y="960120"/>
            <a:ext cx="9875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48"/>
              </a:lnSpc>
              <a:buNone/>
            </a:pPr>
            <a:r>
              <a:rPr lang="en-US" sz="2900" b="1" dirty="0">
                <a:solidFill>
                  <a:srgbClr val="E9EF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transaction. Every holder paid at the same instant, or nobody.</a:t>
            </a:r>
            <a:endParaRPr lang="en-US" sz="2900" dirty="0"/>
          </a:p>
        </p:txBody>
      </p:sp>
      <p:pic>
        <p:nvPicPr>
          <p:cNvPr id="6" name="Image 0" descr="dia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" y="2788920"/>
            <a:ext cx="10570464" cy="285292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C13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0010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40" kern="0" dirty="0">
                <a:solidFill>
                  <a:srgbClr val="58BE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WHAT IT DOES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9562795" y="27432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40" kern="0" dirty="0">
                <a:solidFill>
                  <a:srgbClr val="6378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/ 15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800100" y="548640"/>
            <a:ext cx="10591495" cy="0"/>
          </a:xfrm>
          <a:prstGeom prst="line">
            <a:avLst/>
          </a:prstGeom>
          <a:noFill/>
          <a:ln w="9525">
            <a:solidFill>
              <a:srgbClr val="25342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0100" y="9601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58BE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VALUE, IN THE OPERATIONS MANAGER'S TERMS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00100" y="1371600"/>
            <a:ext cx="9326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8"/>
              </a:lnSpc>
              <a:buNone/>
            </a:pPr>
            <a:r>
              <a:rPr lang="en-US" sz="3400" b="1" dirty="0">
                <a:solidFill>
                  <a:srgbClr val="E9EF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run is finished when the transaction commits.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800100" y="3246120"/>
            <a:ext cx="3291840" cy="2148840"/>
          </a:xfrm>
          <a:prstGeom prst="rect">
            <a:avLst/>
          </a:prstGeom>
          <a:solidFill>
            <a:srgbClr val="141F1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37844" y="3456432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rgbClr val="E9EF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event closes the same day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037844" y="4224528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after working the 29% of income events that do not go straight through, on Canton’s own published figures. The transaction commits, and that is the answer.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84548" y="3246120"/>
            <a:ext cx="3291840" cy="2148840"/>
          </a:xfrm>
          <a:prstGeom prst="rect">
            <a:avLst/>
          </a:prstGeom>
          <a:solidFill>
            <a:srgbClr val="141F1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22292" y="3456432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rgbClr val="E9EF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exception queue is empty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622292" y="4224528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no partial state to work. The class of exception “some paid, some not” stops existing.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968996" y="3246120"/>
            <a:ext cx="3291840" cy="2148840"/>
          </a:xfrm>
          <a:prstGeom prst="rect">
            <a:avLst/>
          </a:prstGeom>
          <a:solidFill>
            <a:srgbClr val="141F1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06740" y="3456432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rgbClr val="E9EF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Nothing to chase next week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206740" y="4224528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claims tail, no reconciliation against four systems, no explaining to the issuer what happened.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800100" y="6236208"/>
            <a:ext cx="105914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78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And the register never leaves the paying agent.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C13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0010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40" kern="0" dirty="0">
                <a:solidFill>
                  <a:srgbClr val="58BE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WHAT IT DOES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9562795" y="27432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40" kern="0" dirty="0">
                <a:solidFill>
                  <a:srgbClr val="6378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/ 15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800100" y="548640"/>
            <a:ext cx="10591495" cy="0"/>
          </a:xfrm>
          <a:prstGeom prst="line">
            <a:avLst/>
          </a:prstGeom>
          <a:noFill/>
          <a:ln w="9525">
            <a:solidFill>
              <a:srgbClr val="25342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0100" y="1051560"/>
            <a:ext cx="9326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48"/>
              </a:lnSpc>
              <a:buNone/>
            </a:pPr>
            <a:r>
              <a:rPr lang="en-US" sz="2900" b="1" dirty="0">
                <a:solidFill>
                  <a:srgbClr val="E9EF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steps, and only the last one moves money.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800100" y="21945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8BE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367028" y="2157984"/>
            <a:ext cx="9144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E9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Once, at onboarding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each holder signs one standing agreement with the paying agent.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00100" y="303580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8BE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367028" y="2999232"/>
            <a:ext cx="9144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E9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date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the register is snapshotted and entitlements calculated, rounded so the parts sum to the announced total exactly.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00100" y="387705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8BE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1367028" y="3840480"/>
            <a:ext cx="9144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E9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payment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the agent sets aside the cash and prepares one allocation per holder.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00100" y="471830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8BE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1367028" y="4681728"/>
            <a:ext cx="9144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E9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date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one settlement. Every leg, or none.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00100" y="6236208"/>
            <a:ext cx="105914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78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Holders authorise once, at onboarding. Never per coupon.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C13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0010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40" kern="0" dirty="0">
                <a:solidFill>
                  <a:srgbClr val="58BE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WHY NOW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9562795" y="27432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40" kern="0" dirty="0">
                <a:solidFill>
                  <a:srgbClr val="6378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/ 15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800100" y="548640"/>
            <a:ext cx="10591495" cy="0"/>
          </a:xfrm>
          <a:prstGeom prst="line">
            <a:avLst/>
          </a:prstGeom>
          <a:noFill/>
          <a:ln w="9525">
            <a:solidFill>
              <a:srgbClr val="25342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0100" y="914400"/>
            <a:ext cx="9326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48"/>
              </a:lnSpc>
              <a:buNone/>
            </a:pPr>
            <a:r>
              <a:rPr lang="en-US" sz="2900" b="1" dirty="0">
                <a:solidFill>
                  <a:srgbClr val="E9EF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Token Standard V2 made this possible in June.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800100" y="1783080"/>
            <a:ext cx="9692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CIP-0112, approved 12 June 2026: multi-leg settlement where the executor sees every leg and each participant sees only its own. Its worked example is trading and netting. </a:t>
            </a:r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E9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CIP-112 did not design this. It enabled it.</a:t>
            </a:r>
            <a:endParaRPr lang="en-US" sz="1400" dirty="0"/>
          </a:p>
        </p:txBody>
      </p:sp>
      <p:pic>
        <p:nvPicPr>
          <p:cNvPr id="7" name="Image 0" descr="dia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" y="3291840"/>
            <a:ext cx="10570464" cy="170992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00100" y="6236208"/>
            <a:ext cx="105914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78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striped rows are not hidden. Those amounts were never delivered to that node.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0010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40" kern="0" dirty="0">
                <a:solidFill>
                  <a:srgbClr val="175E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PROOF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9562795" y="27432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40" kern="0" dirty="0">
                <a:solidFill>
                  <a:srgbClr val="5A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 / 15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800100" y="548640"/>
            <a:ext cx="10591495" cy="0"/>
          </a:xfrm>
          <a:prstGeom prst="line">
            <a:avLst/>
          </a:prstGeom>
          <a:noFill/>
          <a:ln w="9525">
            <a:solidFill>
              <a:srgbClr val="CBD5C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0100" y="10515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175E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CANTON DEVNET · 24 SEPTEMBER 2026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00100" y="1463040"/>
            <a:ext cx="9326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8"/>
              </a:lnSpc>
              <a:buNone/>
            </a:pPr>
            <a:r>
              <a:rPr lang="en-US" sz="3400" b="1" dirty="0">
                <a:solidFill>
                  <a:srgbClr val="121B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ran on the real network.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800100" y="2514600"/>
            <a:ext cx="9052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30"/>
              </a:lnSpc>
              <a:buNone/>
            </a:pPr>
            <a:r>
              <a:rPr lang="en-US" sz="1500" dirty="0">
                <a:solidFill>
                  <a:srgbClr val="5A6B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holders paid in a single transaction, 8,421.88 USD. The deliberate failure was run first and refused: one holder not ready, nobody paid.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00100" y="3749040"/>
            <a:ext cx="10241280" cy="777240"/>
          </a:xfrm>
          <a:prstGeom prst="rect">
            <a:avLst/>
          </a:prstGeom>
          <a:solidFill>
            <a:srgbClr val="E7EBE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074420" y="3913632"/>
            <a:ext cx="978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75E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1220652e2e4d32822c39d2ad72088e163eed04718ad1108998001b01aa3483ff466b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800100" y="6236208"/>
            <a:ext cx="105914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That is a real update id on the public test network. Full record: docs/devnet-run.md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0010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40" kern="0" dirty="0">
                <a:solidFill>
                  <a:srgbClr val="175E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PROOF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9562795" y="27432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40" kern="0" dirty="0">
                <a:solidFill>
                  <a:srgbClr val="5A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 / 15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800100" y="548640"/>
            <a:ext cx="10591495" cy="0"/>
          </a:xfrm>
          <a:prstGeom prst="line">
            <a:avLst/>
          </a:prstGeom>
          <a:noFill/>
          <a:ln w="9525">
            <a:solidFill>
              <a:srgbClr val="CBD5C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0100" y="1051560"/>
            <a:ext cx="9326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8"/>
              </a:lnSpc>
              <a:buNone/>
            </a:pPr>
            <a:r>
              <a:rPr lang="en-US" sz="3400" b="1" dirty="0">
                <a:solidFill>
                  <a:srgbClr val="121B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Don't take our word for it. Run it.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800100" y="2148840"/>
            <a:ext cx="6035040" cy="868680"/>
          </a:xfrm>
          <a:prstGeom prst="rect">
            <a:avLst/>
          </a:prstGeom>
          <a:solidFill>
            <a:srgbClr val="E7EBE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92708" y="2331720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21B1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judge &amp;&amp; docker compose up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836676" y="3401568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5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147572" y="3429000"/>
            <a:ext cx="6035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94"/>
              </a:lnSpc>
              <a:buNone/>
            </a:pPr>
            <a:r>
              <a:rPr lang="en-US" sz="1300" dirty="0">
                <a:solidFill>
                  <a:srgbClr val="121B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five-participant Canton network, the real contracts, twenty holders.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36676" y="3913632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5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147572" y="3941064"/>
            <a:ext cx="6035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94"/>
              </a:lnSpc>
              <a:buNone/>
            </a:pPr>
            <a:r>
              <a:rPr lang="en-US" sz="1300" dirty="0">
                <a:solidFill>
                  <a:srgbClr val="121B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holder deliberately left out. Press the button: refused, and the ledger names them.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36676" y="4425696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5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147572" y="4453128"/>
            <a:ext cx="6035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94"/>
              </a:lnSpc>
              <a:buNone/>
            </a:pPr>
            <a:r>
              <a:rPr lang="en-US" sz="1300" dirty="0">
                <a:solidFill>
                  <a:srgbClr val="121B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it, press again: settled.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36676" y="4937760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5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147572" y="4965192"/>
            <a:ext cx="6035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94"/>
              </a:lnSpc>
              <a:buNone/>
            </a:pPr>
            <a:r>
              <a:rPr lang="en-US" sz="1300" dirty="0">
                <a:solidFill>
                  <a:srgbClr val="121B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to install but Docker. No account anywhere.</a:t>
            </a:r>
            <a:endParaRPr lang="en-US" sz="1300" dirty="0"/>
          </a:p>
        </p:txBody>
      </p:sp>
      <p:pic>
        <p:nvPicPr>
          <p:cNvPr id="16" name="Image 0" descr="dia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3017520"/>
            <a:ext cx="3044952" cy="181051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0010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40" kern="0" dirty="0">
                <a:solidFill>
                  <a:srgbClr val="175E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PROOF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9562795" y="27432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40" kern="0" dirty="0">
                <a:solidFill>
                  <a:srgbClr val="5A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/ 15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800100" y="548640"/>
            <a:ext cx="10591495" cy="0"/>
          </a:xfrm>
          <a:prstGeom prst="line">
            <a:avLst/>
          </a:prstGeom>
          <a:noFill/>
          <a:ln w="9525">
            <a:solidFill>
              <a:srgbClr val="CBD5C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0100" y="1051560"/>
            <a:ext cx="9326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8"/>
              </a:lnSpc>
              <a:buNone/>
            </a:pPr>
            <a:r>
              <a:rPr lang="en-US" sz="3400" b="1" dirty="0">
                <a:solidFill>
                  <a:srgbClr val="121B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Measured, not estimated.</a:t>
            </a:r>
            <a:endParaRPr lang="en-US" sz="3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00100" y="2148840"/>
          <a:ext cx="859536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2286000"/>
                <a:gridCol w="228600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21B1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HOLDERS IN ONE TRANSACTION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76200" marB="76200" anchor="ctr">
                    <a:lnL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21B1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SETTLES IN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76200" marB="76200" anchor="ctr">
                    <a:lnL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21B1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TRANSACTION SIZE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76200" marB="76200" anchor="ctr">
                    <a:lnL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75E4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250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76200" marB="76200" anchor="ctr">
                    <a:lnL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21B1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1.6 s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76200" marB="76200" anchor="ctr">
                    <a:lnL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21B1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440 KB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76200" marB="76200" anchor="ctr">
                    <a:lnL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75E4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1,000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76200" marB="76200" anchor="ctr">
                    <a:lnL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21B1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11.1 s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76200" marB="76200" anchor="ctr">
                    <a:lnL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21B1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1.67 MB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76200" marB="76200" anchor="ctr">
                    <a:lnL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800100" y="420624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121B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thousand holders: </a:t>
            </a:r>
            <a:pPr indent="0" marL="0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121B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of reconciliation become 11.1 seconds</a:t>
            </a:r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121B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it is final.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00100" y="6236208"/>
            <a:ext cx="105914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realistic run reaches Canton's 10 MB transaction budget near 6,400 holders. Method and the second ceiling: docs/benchmark.md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C13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0010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40" kern="0" dirty="0">
                <a:solidFill>
                  <a:srgbClr val="58BE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CONTROL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9562795" y="27432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40" kern="0" dirty="0">
                <a:solidFill>
                  <a:srgbClr val="6378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/ 15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800100" y="548640"/>
            <a:ext cx="10591495" cy="0"/>
          </a:xfrm>
          <a:prstGeom prst="line">
            <a:avLst/>
          </a:prstGeom>
          <a:noFill/>
          <a:ln w="9525">
            <a:solidFill>
              <a:srgbClr val="25342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0100" y="960120"/>
            <a:ext cx="9875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48"/>
              </a:lnSpc>
              <a:buNone/>
            </a:pPr>
            <a:r>
              <a:rPr lang="en-US" sz="2900" b="1" dirty="0">
                <a:solidFill>
                  <a:srgbClr val="E9EF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institutional systems, four-eyes authorisation is a requirement, not a feature.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800100" y="2286000"/>
            <a:ext cx="9052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30"/>
              </a:lnSpc>
              <a:buNone/>
            </a:pPr>
            <a:r>
              <a:rPr lang="en-US" sz="15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run can name an approver: a decentralised party, through BitSafe's Decentralization Manager. One optional field. The product is unchanged without it.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00100" y="3611880"/>
            <a:ext cx="6217920" cy="658368"/>
          </a:xfrm>
          <a:prstGeom prst="rect">
            <a:avLst/>
          </a:prstGeom>
          <a:solidFill>
            <a:srgbClr val="141F1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92708" y="376732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9EF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One approval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3314700" y="376732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378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3817620" y="376732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370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ledger refuses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00100" y="4480560"/>
            <a:ext cx="6217920" cy="658368"/>
          </a:xfrm>
          <a:prstGeom prst="rect">
            <a:avLst/>
          </a:prstGeom>
          <a:solidFill>
            <a:srgbClr val="141F1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92708" y="463600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9EF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Two of three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3314700" y="46360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378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817620" y="463600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8BE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settles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00100" y="6236208"/>
            <a:ext cx="105914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78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threshold is enforced by the ledger, not by our code. In the local demo all three nodes are ours; on DevNet the second is BitSafe's.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C13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0010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40" kern="0" dirty="0">
                <a:solidFill>
                  <a:srgbClr val="58BE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HONEST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9562795" y="27432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40" kern="0" dirty="0">
                <a:solidFill>
                  <a:srgbClr val="6378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/ 15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800100" y="548640"/>
            <a:ext cx="10591495" cy="0"/>
          </a:xfrm>
          <a:prstGeom prst="line">
            <a:avLst/>
          </a:prstGeom>
          <a:noFill/>
          <a:ln w="9525">
            <a:solidFill>
              <a:srgbClr val="25342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0100" y="1051560"/>
            <a:ext cx="9326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48"/>
              </a:lnSpc>
              <a:buNone/>
            </a:pPr>
            <a:r>
              <a:rPr lang="en-US" sz="2900" b="1" dirty="0">
                <a:solidFill>
                  <a:srgbClr val="E9EF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are not claiming.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800100" y="22860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58BE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REAL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800100" y="2606040"/>
            <a:ext cx="3291840" cy="0"/>
          </a:xfrm>
          <a:prstGeom prst="line">
            <a:avLst/>
          </a:prstGeom>
          <a:noFill/>
          <a:ln w="9525">
            <a:solidFill>
              <a:srgbClr val="25342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00100" y="2743200"/>
            <a:ext cx="3291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ledger, the contracts, the settlement, the refusal, the privacy, the DevNet update id, the governance engine and its threshold. Every number on screen.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384548" y="22860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7A2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SIMULATED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384548" y="2606040"/>
            <a:ext cx="3291840" cy="0"/>
          </a:xfrm>
          <a:prstGeom prst="line">
            <a:avLst/>
          </a:prstGeom>
          <a:noFill/>
          <a:ln w="9525">
            <a:solidFill>
              <a:srgbClr val="25342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384548" y="2743200"/>
            <a:ext cx="3291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cash is TestTokenV2, the standard's own reference asset, not Canton Coin, chosen because it is signed by owner and admin, so it forces the same receiver-authorisation case. Holders and positions are generated. Three approver nodes on one machine are not three independent operators.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968996" y="22860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6378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 ATTEMPTED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968996" y="2606040"/>
            <a:ext cx="3291840" cy="0"/>
          </a:xfrm>
          <a:prstGeom prst="line">
            <a:avLst/>
          </a:prstGeom>
          <a:noFill/>
          <a:ln w="9525">
            <a:solidFill>
              <a:srgbClr val="25342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968996" y="2743200"/>
            <a:ext cx="3291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Corporate-action announcement data. Chainlink, with DTCC and Swift, is attacking that layer. We do the payment layer, and saying so makes the position sharper.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800100" y="6236208"/>
            <a:ext cx="105914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78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 would rather tell you this than have you find it.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C13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0010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40" kern="0" dirty="0">
                <a:solidFill>
                  <a:srgbClr val="58BE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HONEST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9562795" y="27432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40" kern="0" dirty="0">
                <a:solidFill>
                  <a:srgbClr val="6378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 / 15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800100" y="548640"/>
            <a:ext cx="10591495" cy="0"/>
          </a:xfrm>
          <a:prstGeom prst="line">
            <a:avLst/>
          </a:prstGeom>
          <a:noFill/>
          <a:ln w="9525">
            <a:solidFill>
              <a:srgbClr val="25342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0100" y="9144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58BE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KNOWN, DESIGNED, NOT YET BUILT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00100" y="1298448"/>
            <a:ext cx="9326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48"/>
              </a:lnSpc>
              <a:buNone/>
            </a:pPr>
            <a:r>
              <a:rPr lang="en-US" sz="2900" b="1" dirty="0">
                <a:solidFill>
                  <a:srgbClr val="E9EF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Scoping a run is the first thing we build next.</a:t>
            </a:r>
            <a:endParaRPr lang="en-US" sz="2900" dirty="0"/>
          </a:p>
        </p:txBody>
      </p:sp>
      <p:sp>
        <p:nvSpPr>
          <p:cNvPr id="7" name="Text 5"/>
          <p:cNvSpPr txBox="1"/>
          <p:nvPr/>
        </p:nvSpPr>
        <p:spPr>
          <a:xfrm>
            <a:off x="800100" y="2240280"/>
            <a:ext cx="9692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5 of 250 holders are not ready, the batch refuses for all 250. A paying agent needs to settle the 245 today and carry the 5 into a second run. </a:t>
            </a:r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E9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batch stays all-or-nothing; its membership becomes a decision, not an accident.</a:t>
            </a:r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model supports it. The workflow, and the audit trail that says why five were held back, are not written.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836676" y="3374136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58B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1147572" y="3401568"/>
            <a:ext cx="9326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6"/>
              </a:lnSpc>
              <a:buNone/>
            </a:pPr>
            <a:r>
              <a:rPr lang="en-US" sz="1200" b="1" dirty="0">
                <a:solidFill>
                  <a:srgbClr val="E9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set-up surface</a:t>
            </a:r>
            <a:pPr indent="0" marL="0">
              <a:lnSpc>
                <a:spcPts val="1656"/>
              </a:lnSpc>
              <a:buNone/>
            </a:pPr>
            <a:r>
              <a:rPr lang="en-US" sz="12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the console settles a run; it does not keep the register. Holders, positions and the schedule come from systems a paying agent already runs, and in the demo a script stands in for them. That boundary is deliberate — it is why Indivisa works against registers that already exist.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836676" y="4105656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58B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1147572" y="4133088"/>
            <a:ext cx="9326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6"/>
              </a:lnSpc>
              <a:buNone/>
            </a:pPr>
            <a:r>
              <a:rPr lang="en-US" sz="1200" b="1" dirty="0">
                <a:solidFill>
                  <a:srgbClr val="E9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onboarding</a:t>
            </a:r>
            <a:pPr indent="0" marL="0">
              <a:lnSpc>
                <a:spcPts val="1656"/>
              </a:lnSpc>
              <a:buNone/>
            </a:pPr>
            <a:r>
              <a:rPr lang="en-US" sz="12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holders sign through a real client, not a script.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836676" y="4617720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58B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1147572" y="4645152"/>
            <a:ext cx="9326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6"/>
              </a:lnSpc>
              <a:buNone/>
            </a:pPr>
            <a:r>
              <a:rPr lang="en-US" sz="1200" b="1" dirty="0">
                <a:solidFill>
                  <a:srgbClr val="E9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scheduled agent</a:t>
            </a:r>
            <a:pPr indent="0" marL="0">
              <a:lnSpc>
                <a:spcPts val="1656"/>
              </a:lnSpc>
              <a:buNone/>
            </a:pPr>
            <a:r>
              <a:rPr lang="en-US" sz="12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today a person presses the button; in production a daemon watches payment dates.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836676" y="5129784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58B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1147572" y="5157216"/>
            <a:ext cx="9326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6"/>
              </a:lnSpc>
              <a:buNone/>
            </a:pPr>
            <a:r>
              <a:rPr lang="en-US" sz="1200" b="1" dirty="0">
                <a:solidFill>
                  <a:srgbClr val="E9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cash</a:t>
            </a:r>
            <a:pPr indent="0" marL="0">
              <a:lnSpc>
                <a:spcPts val="1656"/>
              </a:lnSpc>
              <a:buNone/>
            </a:pPr>
            <a:r>
              <a:rPr lang="en-US" sz="12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a production run settles Canton Coin or a registry's own token. The model never names the asset, so this is a field and one registry adapter, not a rewrite.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836676" y="5843016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58B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1147572" y="5870448"/>
            <a:ext cx="9326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6"/>
              </a:lnSpc>
              <a:buNone/>
            </a:pPr>
            <a:r>
              <a:rPr lang="en-US" sz="1200" b="1" dirty="0">
                <a:solidFill>
                  <a:srgbClr val="E9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MainNet</a:t>
            </a:r>
            <a:pPr indent="0" marL="0">
              <a:lnSpc>
                <a:spcPts val="1656"/>
              </a:lnSpc>
              <a:buNone/>
            </a:pPr>
            <a:r>
              <a:rPr lang="en-US" sz="12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the DevNet run proves the path; MainNet is a deployment decision, not a code change. We run validator infrastructure, and it is the first thing after submission.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C13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0010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40" kern="0" dirty="0">
                <a:solidFill>
                  <a:srgbClr val="58BE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NEXT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9562795" y="27432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40" kern="0" dirty="0">
                <a:solidFill>
                  <a:srgbClr val="6378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/ 15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800100" y="548640"/>
            <a:ext cx="10591495" cy="0"/>
          </a:xfrm>
          <a:prstGeom prst="line">
            <a:avLst/>
          </a:prstGeom>
          <a:noFill/>
          <a:ln w="9525">
            <a:solidFill>
              <a:srgbClr val="25342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0100" y="960120"/>
            <a:ext cx="9875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48"/>
              </a:lnSpc>
              <a:buNone/>
            </a:pPr>
            <a:r>
              <a:rPr lang="en-US" sz="2900" b="1" dirty="0">
                <a:solidFill>
                  <a:srgbClr val="E9EF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buyer is the independent debt paying agent and the corporate trustee, first.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836676" y="2624328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8B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147572" y="2651760"/>
            <a:ext cx="9326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94"/>
              </a:lnSpc>
              <a:buNone/>
            </a:pPr>
            <a:r>
              <a:rPr lang="en-US" sz="1300" b="1" dirty="0">
                <a:solidFill>
                  <a:srgbClr val="E9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few hundred firms worldwide</a:t>
            </a:r>
            <a:pPr indent="0" marL="0">
              <a:lnSpc>
                <a:spcPts val="1794"/>
              </a:lnSpc>
              <a:buNone/>
            </a:pPr>
            <a:r>
              <a:rPr lang="en-US" sz="13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independent debt paying agents, corporate trustees, and the issuer-services arms of custodian banks. Small, named, and each running thousands of events a year.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36676" y="3337560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8B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147572" y="3364992"/>
            <a:ext cx="9326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94"/>
              </a:lnSpc>
              <a:buNone/>
            </a:pPr>
            <a:r>
              <a:rPr lang="en-US" sz="1300" b="1" dirty="0">
                <a:solidFill>
                  <a:srgbClr val="E9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Dividends and redemptions are the same engine</a:t>
            </a:r>
            <a:pPr indent="0" marL="0">
              <a:lnSpc>
                <a:spcPts val="1794"/>
              </a:lnSpc>
              <a:buNone/>
            </a:pPr>
            <a:r>
              <a:rPr lang="en-US" sz="13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the same run, a different event type.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36676" y="3849624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8B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147572" y="3877056"/>
            <a:ext cx="9326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94"/>
              </a:lnSpc>
              <a:buNone/>
            </a:pPr>
            <a:r>
              <a:rPr lang="en-US" sz="1300" b="1" dirty="0">
                <a:solidFill>
                  <a:srgbClr val="E9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works against registers that already exist</a:t>
            </a:r>
            <a:pPr indent="0" marL="0">
              <a:lnSpc>
                <a:spcPts val="1794"/>
              </a:lnSpc>
              <a:buNone/>
            </a:pPr>
            <a:r>
              <a:rPr lang="en-US" sz="13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the bond is not tokenized; only the cash is a Token Standard V2 asset.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36676" y="4361688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8B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147572" y="4389120"/>
            <a:ext cx="9326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94"/>
              </a:lnSpc>
              <a:buNone/>
            </a:pPr>
            <a:r>
              <a:rPr lang="en-US" sz="1300" b="1" dirty="0">
                <a:solidFill>
                  <a:srgbClr val="E9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benchmark is a contribution in its own right</a:t>
            </a:r>
            <a:pPr indent="0" marL="0">
              <a:lnSpc>
                <a:spcPts val="1794"/>
              </a:lnSpc>
              <a:buNone/>
            </a:pPr>
            <a:r>
              <a:rPr lang="en-US" sz="13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the first published figures for CIP-112 batch settlement, going to the Canton forum whatever happens here.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C13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1417320"/>
            <a:ext cx="1261872" cy="84124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51560" y="23317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9EF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Indivisa</a:t>
            </a:r>
            <a:endParaRPr lang="en-US" sz="4600" dirty="0"/>
          </a:p>
        </p:txBody>
      </p:sp>
      <p:sp>
        <p:nvSpPr>
          <p:cNvPr id="4" name="Text 1"/>
          <p:cNvSpPr txBox="1"/>
          <p:nvPr/>
        </p:nvSpPr>
        <p:spPr>
          <a:xfrm>
            <a:off x="1051560" y="324612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transaction. Every holder paid at the same instant, or nobody.</a:t>
            </a:r>
            <a:endParaRPr lang="en-US" sz="17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no holder sees another.</a:t>
            </a:r>
            <a:endParaRPr lang="en-US" sz="1700" dirty="0"/>
          </a:p>
        </p:txBody>
      </p:sp>
      <p:sp>
        <p:nvSpPr>
          <p:cNvPr id="5" name="Shape 2"/>
          <p:cNvSpPr/>
          <p:nvPr/>
        </p:nvSpPr>
        <p:spPr>
          <a:xfrm>
            <a:off x="1051560" y="4370832"/>
            <a:ext cx="6035040" cy="0"/>
          </a:xfrm>
          <a:prstGeom prst="line">
            <a:avLst/>
          </a:prstGeom>
          <a:noFill/>
          <a:ln w="9525">
            <a:solidFill>
              <a:srgbClr val="25342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51560" y="44805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8BE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Settled on Canton DevNet   ·   1220652e…f466b</a:t>
            </a:r>
            <a:endParaRPr lang="en-US" sz="10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8BE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 it yourself:   cd judge &amp;&amp; docker compose up</a:t>
            </a:r>
            <a:endParaRPr lang="en-US" sz="1050" dirty="0"/>
          </a:p>
        </p:txBody>
      </p:sp>
      <p:sp>
        <p:nvSpPr>
          <p:cNvPr id="7" name="Text 4"/>
          <p:cNvSpPr txBox="1"/>
          <p:nvPr/>
        </p:nvSpPr>
        <p:spPr>
          <a:xfrm>
            <a:off x="1051560" y="59893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6378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GITHUB.COM/CHAIN-EXPERTS/INDIVISA   ·   APACHE-2.0   ·   CHAIN-EXPERTS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Indivisa · HackCanton Season 3</dc:title>
  <dc:subject>PptxGenJS Presentation</dc:subject>
  <dc:creator>Chain-Experts</dc:creator>
  <cp:lastModifiedBy>Chain-Experts</cp:lastModifiedBy>
  <cp:revision>1</cp:revision>
  <dcterms:created xsi:type="dcterms:W3CDTF">2026-10-01T10:08:50Z</dcterms:created>
  <dcterms:modified xsi:type="dcterms:W3CDTF">2026-10-01T10:08:50Z</dcterms:modified>
</cp:coreProperties>
</file>